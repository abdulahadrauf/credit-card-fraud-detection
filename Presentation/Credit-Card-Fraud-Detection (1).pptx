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1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5" r:id="rId9"/>
    <p:sldId id="262" r:id="rId10"/>
    <p:sldId id="263" r:id="rId11"/>
  </p:sldIdLst>
  <p:sldSz cx="14630400" cy="8229600"/>
  <p:notesSz cx="8229600" cy="14630400"/>
  <p:embeddedFontLst>
    <p:embeddedFont>
      <p:font typeface="Merriweather" panose="020B0604020202020204" charset="0"/>
      <p:regular r:id="rId13"/>
    </p:embeddedFont>
    <p:embeddedFont>
      <p:font typeface="Calibri Light" panose="020F0302020204030204" pitchFamily="34" charset="0"/>
      <p:regular r:id="rId14"/>
      <p:italic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050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5628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758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87577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90232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29086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8747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68407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42330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04946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06406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88720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33624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18818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23679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91392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4216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85789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8089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87550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0901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81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  <p:sldLayoutId id="2147483729" r:id="rId19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mlg-ulb/creditcardfraud/data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2368748"/>
            <a:ext cx="74164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Credit Card Fraud Detection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6350198" y="4281488"/>
            <a:ext cx="7416403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machine learning project focused on detecting fraudulent credit card transactions. This is critical for financial security. The project utilizes machine learning to minimize financial losses for institutions and customers.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236821"/>
            <a:ext cx="74164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Overview &amp; Importance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863798" y="3427214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665923" y="3427214"/>
            <a:ext cx="2782729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Machine Learning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665923" y="3960733"/>
            <a:ext cx="2782729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Using machine learning to identify fraudulent transactions.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4695468" y="3427214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97592" y="3427214"/>
            <a:ext cx="2782729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Minimize Losses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497592" y="3960733"/>
            <a:ext cx="2782729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Critical for minimizing financial losses for institutions and customers.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3798" y="6064448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65923" y="606444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Enhance Security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665923" y="6597968"/>
            <a:ext cx="6614279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Enhances transaction system security and trust.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142173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Dataset &amp; Attributes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353044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Dataset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4162782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  <a:hlinkClick r:id="rId3"/>
              </a:rPr>
              <a:t>Credit Card Fraud Detection (Kaggle / ULB)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4643914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Transactions from September 2013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5125045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284,807 Transactions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3798" y="5606177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Imbalanced: 0.17% Fraudulent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23929" y="469249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Attributes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623929" y="5324832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Independent Variables: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V1-V28 (PCA), Amount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623929" y="5805964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Dependent Variable: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Class (0:Normal, 1:Fraud)</a:t>
            </a:r>
            <a:endParaRPr lang="en-US" sz="19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322" y="1453839"/>
            <a:ext cx="4319985" cy="28726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8875" y="891540"/>
            <a:ext cx="6614041" cy="671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Methodology &amp; Approach</a:t>
            </a:r>
            <a:endParaRPr lang="en-US" sz="4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885712"/>
            <a:ext cx="1074896" cy="12899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36193" y="2100620"/>
            <a:ext cx="3348990" cy="33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Exploratory Data Analysis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7636193" y="2565440"/>
            <a:ext cx="6241732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Examined data structure and visualized class imbalance.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3175635"/>
            <a:ext cx="1074896" cy="128992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36193" y="3390543"/>
            <a:ext cx="2687479" cy="33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Preprocessing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7636193" y="3855363"/>
            <a:ext cx="6241732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Split data (70/30) and applied feature scaling.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4465558"/>
            <a:ext cx="1074896" cy="158257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36193" y="4680466"/>
            <a:ext cx="2687479" cy="33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Model Exploration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7636193" y="5145286"/>
            <a:ext cx="6241732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Considered several algorithms, KNN selected for detailed analysis.</a:t>
            </a:r>
            <a:endParaRPr lang="en-US" sz="16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8875" y="6048137"/>
            <a:ext cx="1074896" cy="128992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36193" y="6263045"/>
            <a:ext cx="2687479" cy="33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Evaluation</a:t>
            </a:r>
            <a:endParaRPr lang="en-US" sz="2100" dirty="0"/>
          </a:p>
        </p:txBody>
      </p:sp>
      <p:sp>
        <p:nvSpPr>
          <p:cNvPr id="15" name="Text 8"/>
          <p:cNvSpPr/>
          <p:nvPr/>
        </p:nvSpPr>
        <p:spPr>
          <a:xfrm>
            <a:off x="7636193" y="6727865"/>
            <a:ext cx="6241732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Used precision, recall, F1-score, and confusion matrix.</a:t>
            </a:r>
            <a:endParaRPr lang="en-US" sz="16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24320"/>
            <a:ext cx="8057198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KNN Model - Optimization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1478161" y="4283035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Why KNN?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4816554"/>
            <a:ext cx="3699748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Selected for its effectiveness.</a:t>
            </a:r>
            <a:endParaRPr lang="en-US" sz="1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180" y="2489240"/>
            <a:ext cx="4515922" cy="45159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73435" y="4244578"/>
            <a:ext cx="369213" cy="46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9943267" y="286404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Preprocessing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943267" y="3397568"/>
            <a:ext cx="3823335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Features scaled using StandardScaler.</a:t>
            </a:r>
            <a:endParaRPr lang="en-US" sz="1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180" y="2489240"/>
            <a:ext cx="4515922" cy="451592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44232" y="3303746"/>
            <a:ext cx="369213" cy="46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2900" dirty="0"/>
          </a:p>
        </p:txBody>
      </p:sp>
      <p:sp>
        <p:nvSpPr>
          <p:cNvPr id="11" name="Text 7"/>
          <p:cNvSpPr/>
          <p:nvPr/>
        </p:nvSpPr>
        <p:spPr>
          <a:xfrm>
            <a:off x="9943267" y="5307092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Optimal K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9943267" y="5840611"/>
            <a:ext cx="3823335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Elbow Method to identify optimal K.</a:t>
            </a:r>
            <a:endParaRPr lang="en-US" sz="1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7180" y="2489240"/>
            <a:ext cx="4515922" cy="451592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73578" y="6000631"/>
            <a:ext cx="369213" cy="46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2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338" y="2326327"/>
            <a:ext cx="6010504" cy="357694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180" y="2326327"/>
            <a:ext cx="4943881" cy="35769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22898" y="381000"/>
            <a:ext cx="6984604" cy="8745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ts val="6050"/>
              </a:lnSpc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KNN Model </a:t>
            </a:r>
            <a:r>
              <a:rPr lang="en-US" sz="4850" dirty="0" smtClean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– Metrics</a:t>
            </a:r>
            <a:endParaRPr lang="en-US" sz="485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680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25987"/>
            <a:ext cx="8371523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KNN (K=3) Results Rationale</a:t>
            </a:r>
            <a:endParaRPr lang="en-US" sz="4850" dirty="0"/>
          </a:p>
        </p:txBody>
      </p:sp>
      <p:sp>
        <p:nvSpPr>
          <p:cNvPr id="3" name="Shape 1"/>
          <p:cNvSpPr/>
          <p:nvPr/>
        </p:nvSpPr>
        <p:spPr>
          <a:xfrm>
            <a:off x="863798" y="2490907"/>
            <a:ext cx="2150388" cy="1421963"/>
          </a:xfrm>
          <a:prstGeom prst="roundRect">
            <a:avLst>
              <a:gd name="adj" fmla="val 7291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65459" y="2984897"/>
            <a:ext cx="347067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2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261003" y="2737723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Optimal 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61003" y="3271242"/>
            <a:ext cx="3286482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K=3 was chosen for balance.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137535" y="3897630"/>
            <a:ext cx="10505718" cy="15240"/>
          </a:xfrm>
          <a:prstGeom prst="roundRect">
            <a:avLst>
              <a:gd name="adj" fmla="val 680244"/>
            </a:avLst>
          </a:prstGeom>
          <a:solidFill>
            <a:srgbClr val="194A99"/>
          </a:solidFill>
          <a:ln/>
        </p:spPr>
      </p:sp>
      <p:sp>
        <p:nvSpPr>
          <p:cNvPr id="8" name="Shape 6"/>
          <p:cNvSpPr/>
          <p:nvPr/>
        </p:nvSpPr>
        <p:spPr>
          <a:xfrm>
            <a:off x="863798" y="4036219"/>
            <a:ext cx="4300895" cy="1421963"/>
          </a:xfrm>
          <a:prstGeom prst="roundRect">
            <a:avLst>
              <a:gd name="adj" fmla="val 7291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40712" y="4530209"/>
            <a:ext cx="347067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2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411510" y="4283035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Good Recall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11510" y="4816554"/>
            <a:ext cx="3462099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Classify fraud cases correctly.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288042" y="5442942"/>
            <a:ext cx="8355211" cy="15240"/>
          </a:xfrm>
          <a:prstGeom prst="roundRect">
            <a:avLst>
              <a:gd name="adj" fmla="val 680244"/>
            </a:avLst>
          </a:prstGeom>
          <a:solidFill>
            <a:srgbClr val="194A99"/>
          </a:solidFill>
          <a:ln/>
        </p:spPr>
      </p:sp>
      <p:sp>
        <p:nvSpPr>
          <p:cNvPr id="13" name="Shape 11"/>
          <p:cNvSpPr/>
          <p:nvPr/>
        </p:nvSpPr>
        <p:spPr>
          <a:xfrm>
            <a:off x="863798" y="5581531"/>
            <a:ext cx="6451402" cy="1421963"/>
          </a:xfrm>
          <a:prstGeom prst="roundRect">
            <a:avLst>
              <a:gd name="adj" fmla="val 7291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15966" y="6075521"/>
            <a:ext cx="347067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2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7562017" y="5828348"/>
            <a:ext cx="2950131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Good Precision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562017" y="6361867"/>
            <a:ext cx="2950131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Minimize false positives.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3447" y="4295771"/>
            <a:ext cx="5084210" cy="360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2">
                <a:lumMod val="40000"/>
                <a:lumOff val="6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3447" y="377371"/>
            <a:ext cx="5084210" cy="360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/>
            </a:solidFill>
            <a:miter lim="800000"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6074" y="377371"/>
            <a:ext cx="5030464" cy="360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2">
                <a:lumMod val="40000"/>
                <a:lumOff val="6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5543" y="4295771"/>
            <a:ext cx="4950995" cy="360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2">
                <a:lumMod val="40000"/>
                <a:lumOff val="6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83368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578054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6350198" y="2719507"/>
            <a:ext cx="3584853" cy="2232779"/>
          </a:xfrm>
          <a:prstGeom prst="roundRect">
            <a:avLst>
              <a:gd name="adj" fmla="val 4643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12255" y="2981563"/>
            <a:ext cx="3060740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Successful Application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612255" y="3900607"/>
            <a:ext cx="30607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Applied ML to fraud detection.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0181868" y="2719507"/>
            <a:ext cx="3584853" cy="2232779"/>
          </a:xfrm>
          <a:prstGeom prst="roundRect">
            <a:avLst>
              <a:gd name="adj" fmla="val 4643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43924" y="2981563"/>
            <a:ext cx="3060740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Steps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443924" y="3515082"/>
            <a:ext cx="30607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preprocessing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443924" y="3996214"/>
            <a:ext cx="30607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Model selection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350198" y="5199102"/>
            <a:ext cx="7416403" cy="1452443"/>
          </a:xfrm>
          <a:prstGeom prst="roundRect">
            <a:avLst>
              <a:gd name="adj" fmla="val 7138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12255" y="5461159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Evaluation Metrics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612255" y="5994678"/>
            <a:ext cx="689229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Essential due to class imbalance.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745441" y="2349303"/>
            <a:ext cx="11139516" cy="28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050"/>
              </a:lnSpc>
              <a:buNone/>
            </a:pPr>
            <a:r>
              <a:rPr lang="en-US" sz="11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Thank You</a:t>
            </a:r>
            <a:endParaRPr lang="en-US" sz="11500" dirty="0"/>
          </a:p>
        </p:txBody>
      </p:sp>
      <p:sp>
        <p:nvSpPr>
          <p:cNvPr id="4" name="Text 1"/>
          <p:cNvSpPr/>
          <p:nvPr/>
        </p:nvSpPr>
        <p:spPr>
          <a:xfrm>
            <a:off x="863798" y="6030754"/>
            <a:ext cx="129028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Questions?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263</Words>
  <Application>Microsoft Office PowerPoint</Application>
  <PresentationFormat>Custom</PresentationFormat>
  <Paragraphs>66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Merriweather</vt:lpstr>
      <vt:lpstr>Calibri Light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Ahad</cp:lastModifiedBy>
  <cp:revision>5</cp:revision>
  <dcterms:created xsi:type="dcterms:W3CDTF">2025-04-14T22:05:43Z</dcterms:created>
  <dcterms:modified xsi:type="dcterms:W3CDTF">2025-04-14T22:34:09Z</dcterms:modified>
</cp:coreProperties>
</file>